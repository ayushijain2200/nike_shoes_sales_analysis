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69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507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155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965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470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1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580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24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1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31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721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5348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149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736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285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994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676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F28E83F-9212-45E9-A0A2-DCFCC6B277A7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AD0E262-2BEC-47D1-8CA5-4D889ECA0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62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C3FC-2FA2-1EB1-EBC4-B48CDE4EE4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6600" b="1" u="sng" dirty="0">
                <a:solidFill>
                  <a:srgbClr val="7030A0"/>
                </a:solidFill>
                <a:latin typeface="Algerian" panose="04020705040A02060702" pitchFamily="82" charset="0"/>
              </a:rPr>
              <a:t>Nike Shoes Data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DEB4E5-C960-9D34-C73B-60DC64E36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2426" y="0"/>
            <a:ext cx="2369574" cy="132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69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419D4-5BEA-BAD1-7722-C9AF51482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065" y="421872"/>
            <a:ext cx="6588238" cy="1596177"/>
          </a:xfrm>
        </p:spPr>
        <p:txBody>
          <a:bodyPr>
            <a:normAutofit/>
          </a:bodyPr>
          <a:lstStyle/>
          <a:p>
            <a:r>
              <a:rPr lang="en-IN" sz="6000" u="sng" dirty="0">
                <a:solidFill>
                  <a:schemeClr val="bg2">
                    <a:lumMod val="50000"/>
                  </a:schemeClr>
                </a:solidFill>
              </a:rPr>
              <a:t>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5A114-D3BE-81A8-96C3-44A4B7971681}"/>
              </a:ext>
            </a:extLst>
          </p:cNvPr>
          <p:cNvSpPr txBox="1"/>
          <p:nvPr/>
        </p:nvSpPr>
        <p:spPr>
          <a:xfrm>
            <a:off x="1622949" y="2517058"/>
            <a:ext cx="938918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Identify </a:t>
            </a:r>
            <a:r>
              <a:rPr lang="en-US" sz="4400" b="1" dirty="0"/>
              <a:t>top-performing products</a:t>
            </a:r>
            <a:endParaRPr lang="en-US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Understand </a:t>
            </a:r>
            <a:r>
              <a:rPr lang="en-US" sz="4400" b="1" dirty="0"/>
              <a:t>customer preferences</a:t>
            </a:r>
            <a:endParaRPr lang="en-US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Optimize </a:t>
            </a:r>
            <a:r>
              <a:rPr lang="en-US" sz="4400" b="1" dirty="0"/>
              <a:t>pricing &amp; discounts</a:t>
            </a:r>
            <a:endParaRPr lang="en-US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Improve </a:t>
            </a:r>
            <a:r>
              <a:rPr lang="en-US" sz="4400" b="1" dirty="0"/>
              <a:t>inventory &amp; sales strategy</a:t>
            </a:r>
            <a:endParaRPr lang="en-US" sz="4400" dirty="0"/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B1C42C-6272-1047-FAD9-09BF57909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548" y="0"/>
            <a:ext cx="1966452" cy="110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13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F5FF-6682-A41F-59F4-697EBF763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6652" y="1484670"/>
            <a:ext cx="9270949" cy="4075469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/>
              <a:t>     </a:t>
            </a:r>
            <a:r>
              <a:rPr lang="en-US" sz="4400" b="1" u="sng" dirty="0">
                <a:solidFill>
                  <a:schemeClr val="bg2">
                    <a:lumMod val="50000"/>
                  </a:schemeClr>
                </a:solidFill>
              </a:rPr>
              <a:t>Top Revenue Drivers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  </a:t>
            </a:r>
            <a:r>
              <a:rPr lang="en-US" sz="3600" dirty="0"/>
              <a:t>Few products (e.g., metcon/z</a:t>
            </a:r>
            <a:r>
              <a:rPr lang="en-US" sz="3600" cap="none" dirty="0"/>
              <a:t>oom</a:t>
            </a:r>
            <a:r>
              <a:rPr lang="en-US" sz="3600" dirty="0"/>
              <a:t>x)                  contribute majority revenue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👉 Focus marketing on these</a:t>
            </a:r>
            <a:br>
              <a:rPr lang="en-US" sz="3600" dirty="0"/>
            </a:br>
            <a:r>
              <a:rPr lang="en-US" sz="3600" dirty="0"/>
              <a:t> </a:t>
            </a:r>
            <a:endParaRPr lang="en-IN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0CC980-F8AC-5DF4-349F-6080A7284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548" y="0"/>
            <a:ext cx="1966452" cy="110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10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B0925-5529-E169-8566-8A94133D2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857" y="1231032"/>
            <a:ext cx="8927691" cy="4395935"/>
          </a:xfrm>
        </p:spPr>
        <p:txBody>
          <a:bodyPr>
            <a:normAutofit fontScale="90000"/>
          </a:bodyPr>
          <a:lstStyle/>
          <a:p>
            <a:r>
              <a:rPr lang="en-US" sz="4400" b="1" u="sng" dirty="0">
                <a:solidFill>
                  <a:schemeClr val="bg2">
                    <a:lumMod val="50000"/>
                  </a:schemeClr>
                </a:solidFill>
              </a:rPr>
              <a:t>Category Insight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    </a:t>
            </a:r>
            <a:r>
              <a:rPr lang="en-US" dirty="0"/>
              <a:t>Running &amp; TRAINING shoes usually dominate sales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👉 Indicates daily-use preference over niche categories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6C422E-D4C2-4306-683A-03A570369A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548" y="0"/>
            <a:ext cx="1966452" cy="110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87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413D-AC01-AB07-0553-7416A4701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5" y="903652"/>
            <a:ext cx="9999406" cy="5310335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2">
                    <a:lumMod val="50000"/>
                  </a:schemeClr>
                </a:solidFill>
              </a:rPr>
              <a:t>      </a:t>
            </a:r>
            <a:r>
              <a:rPr lang="en-US" sz="4400" b="1" u="sng" dirty="0">
                <a:solidFill>
                  <a:schemeClr val="bg2">
                    <a:lumMod val="50000"/>
                  </a:schemeClr>
                </a:solidFill>
              </a:rPr>
              <a:t>Discount Strategy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                </a:t>
            </a:r>
            <a:r>
              <a:rPr lang="en-US" dirty="0"/>
              <a:t>Moderate discounts (20–30%) often increase sales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    👉 Too high discounts don’t always increase revenue</a:t>
            </a:r>
            <a:br>
              <a:rPr lang="en-US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CFE05A-5469-877F-F399-95CBDC29E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548" y="0"/>
            <a:ext cx="1966452" cy="110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52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B0E7-E58B-2AFE-C213-E9340CA8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992143"/>
            <a:ext cx="9400265" cy="4612244"/>
          </a:xfrm>
        </p:spPr>
        <p:txBody>
          <a:bodyPr>
            <a:normAutofit/>
          </a:bodyPr>
          <a:lstStyle/>
          <a:p>
            <a:r>
              <a:rPr lang="en-US" b="1" dirty="0"/>
              <a:t> </a:t>
            </a:r>
            <a:r>
              <a:rPr lang="en-US" sz="4400" b="1" u="sng" dirty="0">
                <a:solidFill>
                  <a:schemeClr val="bg2">
                    <a:lumMod val="50000"/>
                  </a:schemeClr>
                </a:solidFill>
              </a:rPr>
              <a:t>Regional Performance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   </a:t>
            </a:r>
            <a:r>
              <a:rPr lang="en-US" dirty="0"/>
              <a:t>One region </a:t>
            </a:r>
            <a:r>
              <a:rPr lang="en-US" cap="none" dirty="0"/>
              <a:t>i.e.</a:t>
            </a:r>
            <a:r>
              <a:rPr lang="en-US" dirty="0"/>
              <a:t> North contributes highest revenue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👉 Expand inventory &amp; ads in high-performing regions</a:t>
            </a:r>
            <a:br>
              <a:rPr lang="en-US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38AB97-7E77-39FB-CED8-B75917EEE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548" y="0"/>
            <a:ext cx="1966452" cy="110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398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0E292-8500-38C6-A874-6F2A173AC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6" y="1326440"/>
            <a:ext cx="9724104" cy="4700735"/>
          </a:xfrm>
        </p:spPr>
        <p:txBody>
          <a:bodyPr>
            <a:normAutofit/>
          </a:bodyPr>
          <a:lstStyle/>
          <a:p>
            <a:r>
              <a:rPr lang="en-US" sz="4400" b="1" dirty="0"/>
              <a:t>    </a:t>
            </a:r>
            <a:r>
              <a:rPr lang="en-US" sz="4400" b="1" u="sng" dirty="0">
                <a:solidFill>
                  <a:schemeClr val="bg2">
                    <a:lumMod val="50000"/>
                  </a:schemeClr>
                </a:solidFill>
              </a:rPr>
              <a:t>Ratings vs Sales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         </a:t>
            </a:r>
            <a:r>
              <a:rPr lang="en-US" dirty="0"/>
              <a:t>Higher-rated products generally sell more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👉 Product quality directly impacts revenue</a:t>
            </a:r>
            <a:br>
              <a:rPr lang="en-US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7F02B5-EABB-D48F-0A05-9A52C7533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548" y="0"/>
            <a:ext cx="1966452" cy="110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666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CA03B-1396-C755-84BA-54323C118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67446"/>
            <a:ext cx="8819535" cy="4651573"/>
          </a:xfrm>
        </p:spPr>
        <p:txBody>
          <a:bodyPr>
            <a:normAutofit/>
          </a:bodyPr>
          <a:lstStyle/>
          <a:p>
            <a:r>
              <a:rPr lang="en-US" sz="4400" b="1" u="sng" dirty="0">
                <a:solidFill>
                  <a:schemeClr val="bg2">
                    <a:lumMod val="50000"/>
                  </a:schemeClr>
                </a:solidFill>
              </a:rPr>
              <a:t>Inventory Risk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  </a:t>
            </a:r>
            <a:r>
              <a:rPr lang="en-US" dirty="0"/>
              <a:t>Low stock + high sales → </a:t>
            </a:r>
            <a:r>
              <a:rPr lang="en-US" b="1" dirty="0"/>
              <a:t>stock-out risk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👉 Introduce demand forecasting</a:t>
            </a:r>
            <a:br>
              <a:rPr lang="en-US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7B83C1-D7B5-26BB-142A-6D6525E9A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548" y="0"/>
            <a:ext cx="1966452" cy="110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DF3F6-4559-C95B-6971-4CBD0D682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716" y="480865"/>
            <a:ext cx="8278761" cy="1596177"/>
          </a:xfrm>
        </p:spPr>
        <p:txBody>
          <a:bodyPr>
            <a:normAutofit/>
          </a:bodyPr>
          <a:lstStyle/>
          <a:p>
            <a:r>
              <a:rPr lang="en-IN" sz="4800" u="sng" dirty="0">
                <a:solidFill>
                  <a:schemeClr val="bg2">
                    <a:lumMod val="50000"/>
                  </a:schemeClr>
                </a:solidFill>
              </a:rPr>
              <a:t>RECOMMENDATIONS</a:t>
            </a:r>
            <a:r>
              <a:rPr lang="en-IN" sz="4800" dirty="0">
                <a:solidFill>
                  <a:schemeClr val="bg2">
                    <a:lumMod val="50000"/>
                  </a:schemeClr>
                </a:solidFill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8C52B-F302-8719-4B7B-70F7C0F79A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84045" y="2288434"/>
            <a:ext cx="10363826" cy="4200856"/>
          </a:xfrm>
        </p:spPr>
        <p:txBody>
          <a:bodyPr>
            <a:noAutofit/>
          </a:bodyPr>
          <a:lstStyle/>
          <a:p>
            <a:pPr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3200" dirty="0"/>
              <a:t> Focus on High-Performing Products</a:t>
            </a:r>
          </a:p>
          <a:p>
            <a:pPr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3200" dirty="0"/>
              <a:t> Optimize Discount Strategy</a:t>
            </a:r>
          </a:p>
          <a:p>
            <a:pPr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3200" dirty="0"/>
              <a:t> Improve Low-Performing Categories</a:t>
            </a:r>
          </a:p>
          <a:p>
            <a:pPr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3200" dirty="0"/>
              <a:t> Regional Expansion Strategy</a:t>
            </a:r>
          </a:p>
          <a:p>
            <a:pPr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3200" dirty="0"/>
              <a:t> Fix Inventory &amp; Stock Issues</a:t>
            </a:r>
          </a:p>
          <a:p>
            <a:pPr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3200" dirty="0"/>
              <a:t> Improve Product Ratings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84DE9-DB85-9369-F4A7-70D44612E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548" y="0"/>
            <a:ext cx="1966452" cy="110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555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CB81D-F1B0-8E1E-21E7-15AA074FB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58" y="2630911"/>
            <a:ext cx="10364451" cy="1596177"/>
          </a:xfrm>
        </p:spPr>
        <p:txBody>
          <a:bodyPr/>
          <a:lstStyle/>
          <a:p>
            <a:r>
              <a:rPr lang="en-US" sz="6600" dirty="0">
                <a:solidFill>
                  <a:srgbClr val="7030A0"/>
                </a:solidFill>
              </a:rPr>
              <a:t>THANK YOU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990725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Override1.xml><?xml version="1.0" encoding="utf-8"?>
<a:themeOverride xmlns:a="http://schemas.openxmlformats.org/drawingml/2006/main">
  <a:clrScheme name="Droplet">
    <a:dk1>
      <a:sysClr val="windowText" lastClr="000000"/>
    </a:dk1>
    <a:lt1>
      <a:sysClr val="window" lastClr="FFFFFF"/>
    </a:lt1>
    <a:dk2>
      <a:srgbClr val="355071"/>
    </a:dk2>
    <a:lt2>
      <a:srgbClr val="AABED7"/>
    </a:lt2>
    <a:accent1>
      <a:srgbClr val="2FA3EE"/>
    </a:accent1>
    <a:accent2>
      <a:srgbClr val="4BCAAD"/>
    </a:accent2>
    <a:accent3>
      <a:srgbClr val="86C157"/>
    </a:accent3>
    <a:accent4>
      <a:srgbClr val="D99C3F"/>
    </a:accent4>
    <a:accent5>
      <a:srgbClr val="CE6633"/>
    </a:accent5>
    <a:accent6>
      <a:srgbClr val="A35DD1"/>
    </a:accent6>
    <a:hlink>
      <a:srgbClr val="56BCFE"/>
    </a:hlink>
    <a:folHlink>
      <a:srgbClr val="97C5E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</TotalTime>
  <Words>200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Algerian</vt:lpstr>
      <vt:lpstr>Arial</vt:lpstr>
      <vt:lpstr>Tw Cen MT</vt:lpstr>
      <vt:lpstr>Wingdings</vt:lpstr>
      <vt:lpstr>Droplet</vt:lpstr>
      <vt:lpstr>Nike Shoes Data Analysis</vt:lpstr>
      <vt:lpstr>Objective</vt:lpstr>
      <vt:lpstr>     Top Revenue Drivers    Few products (e.g., metcon/zoomx)                  contribute majority revenue  👉 Focus marketing on these  </vt:lpstr>
      <vt:lpstr>Category Insight      Running &amp; TRAINING shoes usually dominate sales  👉 Indicates daily-use preference over niche categories  </vt:lpstr>
      <vt:lpstr>      Discount Strategy                  Moderate discounts (20–30%) often increase sales              👉 Too high discounts don’t always increase revenue </vt:lpstr>
      <vt:lpstr> Regional Performance     One region i.e. North contributes highest revenue  👉 Expand inventory &amp; ads in high-performing regions </vt:lpstr>
      <vt:lpstr>    Ratings vs Sales           Higher-rated products generally sell more         👉 Product quality directly impacts revenue </vt:lpstr>
      <vt:lpstr>Inventory Risk    Low stock + high sales → stock-out risk  👉 Introduce demand forecasting </vt:lpstr>
      <vt:lpstr>RECOMMENDATIONS: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Ayushi Jain</dc:creator>
  <cp:lastModifiedBy>Ayushi Jain</cp:lastModifiedBy>
  <cp:revision>16</cp:revision>
  <dcterms:created xsi:type="dcterms:W3CDTF">2026-03-19T10:49:04Z</dcterms:created>
  <dcterms:modified xsi:type="dcterms:W3CDTF">2026-03-30T12:33:02Z</dcterms:modified>
</cp:coreProperties>
</file>